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Acoustic Rain Gauge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BFD3E4"/>
                </a:solidFill>
                <a:latin typeface="Calibri"/>
              </a:rPr>
              <a:t>Estimating rainfall from the sound of rain — model results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FB6CB"/>
                </a:solidFill>
                <a:latin typeface="Calibri"/>
              </a:rPr>
              <a:t>780,725 field audio clips  ·  19 campaigns (Dec 2023 – Jun 2026)  ·  4 model families + stacking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A2B8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The Problem &amp; 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Can a cheap microphone replace a rain gauge?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A low-cost sensor node records 10-second audio clips (8 kHz, mono) in the field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Each clip is matched to ground-truth rainfall from a co-located gauge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Two prediction tasks: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B7480"/>
                </a:solidFill>
                <a:latin typeface="Calibri"/>
              </a:rPr>
              <a:t>–  Classification — is it raining in this clip?  (rain / no-rain)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B7480"/>
                </a:solidFill>
                <a:latin typeface="Calibri"/>
              </a:rPr>
              <a:t>–  Regression — how much rain?  (mm per 10 s clip)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Why acoustic? Microphones cost a fraction of mechanical gauges, have no moving parts, and can be deployed densely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55448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3000" b="1">
                <a:solidFill>
                  <a:srgbClr val="1B3A5B"/>
                </a:solidFill>
                <a:latin typeface="Calibri"/>
              </a:rPr>
              <a:t>780,725</a:t>
            </a:r>
          </a:p>
          <a:p>
            <a:pPr algn="ctr"/>
            <a:r>
              <a:rPr sz="1250">
                <a:solidFill>
                  <a:srgbClr val="6B7480"/>
                </a:solidFill>
                <a:latin typeface="Calibri"/>
              </a:rPr>
              <a:t>labeled audio clips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55448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3000" b="1">
                <a:solidFill>
                  <a:srgbClr val="1B3A5B"/>
                </a:solidFill>
                <a:latin typeface="Calibri"/>
              </a:rPr>
              <a:t>19</a:t>
            </a:r>
          </a:p>
          <a:p>
            <a:pPr algn="ctr"/>
            <a:r>
              <a:rPr sz="1250">
                <a:solidFill>
                  <a:srgbClr val="6B7480"/>
                </a:solidFill>
                <a:latin typeface="Calibri"/>
              </a:rPr>
              <a:t>field campaigns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9718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3000" b="1">
                <a:solidFill>
                  <a:srgbClr val="1B3A5B"/>
                </a:solidFill>
                <a:latin typeface="Calibri"/>
              </a:rPr>
              <a:t>~15%</a:t>
            </a:r>
          </a:p>
          <a:p>
            <a:pPr algn="ctr"/>
            <a:r>
              <a:rPr sz="1250">
                <a:solidFill>
                  <a:srgbClr val="6B7480"/>
                </a:solidFill>
                <a:latin typeface="Calibri"/>
              </a:rPr>
              <a:t>clips with 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9718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3000" b="1">
                <a:solidFill>
                  <a:srgbClr val="1B3A5B"/>
                </a:solidFill>
                <a:latin typeface="Calibri"/>
              </a:rPr>
              <a:t>31 mo</a:t>
            </a:r>
          </a:p>
          <a:p>
            <a:pPr algn="ctr"/>
            <a:r>
              <a:rPr sz="1250">
                <a:solidFill>
                  <a:srgbClr val="6B7480"/>
                </a:solidFill>
                <a:latin typeface="Calibri"/>
              </a:rPr>
              <a:t>Dec 2023 – Jun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43891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3000" b="1">
                <a:solidFill>
                  <a:srgbClr val="2F6FA7"/>
                </a:solidFill>
                <a:latin typeface="Calibri"/>
              </a:rPr>
              <a:t>0.893</a:t>
            </a:r>
          </a:p>
          <a:p>
            <a:pPr algn="ctr"/>
            <a:r>
              <a:rPr sz="1250">
                <a:solidFill>
                  <a:srgbClr val="6B7480"/>
                </a:solidFill>
                <a:latin typeface="Calibri"/>
              </a:rPr>
              <a:t>best classifier ROC-AUC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43891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3000" b="1">
                <a:solidFill>
                  <a:srgbClr val="E8A13C"/>
                </a:solidFill>
                <a:latin typeface="Calibri"/>
              </a:rPr>
              <a:t>0.543</a:t>
            </a:r>
          </a:p>
          <a:p>
            <a:pPr algn="ctr"/>
            <a:r>
              <a:rPr sz="1250">
                <a:solidFill>
                  <a:srgbClr val="6B7480"/>
                </a:solidFill>
                <a:latin typeface="Calibri"/>
              </a:rPr>
              <a:t>best regression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Real field recordings matched to gauge 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780,725 clips across 19 monthly campaigns, Dec 2023 – Jun 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Every clip: 10.0 s, 8 kHz, mono (verified across all campaigns)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Labels from mechanical / tipping-bucket rain gauges co-located with the microphone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Heavy class imbalance: ~85% of clips are dry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Train / test split by campaign to test generalization: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B7480"/>
                </a:solidFill>
                <a:latin typeface="Calibri"/>
              </a:rPr>
              <a:t>–  607,673 training clips · 151,927 held-out test clips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Campaign mix varies wildly — some months are almost all dry, one (Feb–Mar 2026) is 93% rainy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645920"/>
          <a:ext cx="50292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Clip length / rate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10 s · 8 kHz mono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Total clips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780,725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Train / test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607,673 / 151,927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Rainy fraction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≈15%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Ground truth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Tipping-bucket &amp; mechanical gauges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Campaigns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19 (Dec 2023 – Jun 2026)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From raw WAV files to a rainfall estimate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691640" cy="960120"/>
          </a:xfrm>
          <a:prstGeom prst="roundRect">
            <a:avLst>
              <a:gd name="adj" fmla="val 10000"/>
            </a:avLst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Raw audio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780k WAV clips</a:t>
            </a:r>
            <a:br/>
            <a:r>
              <a:rPr sz="1000">
                <a:solidFill>
                  <a:srgbClr val="FFFFFF"/>
                </a:solidFill>
                <a:latin typeface="Calibri"/>
              </a:rPr>
              <a:t>10 s @ 8 kHz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737360"/>
            <a:ext cx="1691640" cy="960120"/>
          </a:xfrm>
          <a:prstGeom prst="roundRect">
            <a:avLst>
              <a:gd name="adj" fmla="val 10000"/>
            </a:avLst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Cleaning &amp;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label matching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gauge timestamps</a:t>
            </a:r>
            <a:br/>
            <a:r>
              <a:rPr sz="1000">
                <a:solidFill>
                  <a:srgbClr val="FFFFFF"/>
                </a:solidFill>
                <a:latin typeface="Calibri"/>
              </a:rPr>
              <a:t>→ rainfall_mm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234440"/>
            <a:ext cx="1965960" cy="960120"/>
          </a:xfrm>
          <a:prstGeom prst="roundRect">
            <a:avLst>
              <a:gd name="adj" fmla="val 10000"/>
            </a:avLst>
          </a:prstGeom>
          <a:solidFill>
            <a:srgbClr val="2F6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Scalar features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175-feature store</a:t>
            </a:r>
            <a:br/>
            <a:r>
              <a:rPr sz="1000">
                <a:solidFill>
                  <a:srgbClr val="FFFFFF"/>
                </a:solidFill>
                <a:latin typeface="Calibri"/>
              </a:rPr>
              <a:t>(mel, MFCC stats, wavelets)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514600"/>
            <a:ext cx="1965960" cy="960120"/>
          </a:xfrm>
          <a:prstGeom prst="roundRect">
            <a:avLst>
              <a:gd name="adj" fmla="val 10000"/>
            </a:avLst>
          </a:prstGeom>
          <a:solidFill>
            <a:srgbClr val="2F6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MFCC time-series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40 × 157 matrix</a:t>
            </a:r>
            <a:br/>
            <a:r>
              <a:rPr sz="1000">
                <a:solidFill>
                  <a:srgbClr val="FFFFFF"/>
                </a:solidFill>
                <a:latin typeface="Calibri"/>
              </a:rPr>
              <a:t>per clip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234440"/>
            <a:ext cx="1920240" cy="960120"/>
          </a:xfrm>
          <a:prstGeom prst="roundRect">
            <a:avLst>
              <a:gd name="adj" fmla="val 10000"/>
            </a:avLst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XGBoost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classifier + regressor</a:t>
            </a:r>
            <a:br/>
            <a:r>
              <a:rPr sz="1000">
                <a:solidFill>
                  <a:srgbClr val="FFFFFF"/>
                </a:solidFill>
                <a:latin typeface="Calibri"/>
              </a:rPr>
              <a:t>(SHAP top-20 feats)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514600"/>
            <a:ext cx="1920240" cy="960120"/>
          </a:xfrm>
          <a:prstGeom prst="roundRect">
            <a:avLst>
              <a:gd name="adj" fmla="val 10000"/>
            </a:avLst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CNN · LSTM ·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Transformer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deep regressors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1874519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2B2B2B"/>
                </a:solidFill>
                <a:latin typeface="Calibri"/>
              </a:rPr>
              <a:t>Stacking</a:t>
            </a:r>
            <a:br/>
            <a:r>
              <a:rPr sz="1300" b="1">
                <a:solidFill>
                  <a:srgbClr val="2B2B2B"/>
                </a:solidFill>
                <a:latin typeface="Calibri"/>
              </a:rPr>
              <a:t>ensemble</a:t>
            </a:r>
          </a:p>
          <a:p>
            <a:pPr algn="ctr"/>
            <a:r>
              <a:rPr sz="1000">
                <a:solidFill>
                  <a:srgbClr val="2B2B2B"/>
                </a:solidFill>
                <a:latin typeface="Calibri"/>
              </a:rPr>
              <a:t>XGB meta-model</a:t>
            </a:r>
            <a:br/>
            <a:r>
              <a:rPr sz="1000">
                <a:solidFill>
                  <a:srgbClr val="2B2B2B"/>
                </a:solidFill>
                <a:latin typeface="Calibri"/>
              </a:rPr>
              <a:t>on 5 inputs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2217420"/>
            <a:ext cx="502920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389120" y="1714500"/>
            <a:ext cx="594360" cy="50292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89120" y="2217420"/>
            <a:ext cx="594360" cy="77724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1714500"/>
            <a:ext cx="548639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2994660"/>
            <a:ext cx="548639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18320" y="1714500"/>
            <a:ext cx="548640" cy="640079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418320" y="2354579"/>
            <a:ext cx="548640" cy="640081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3A5B"/>
                </a:solidFill>
                <a:latin typeface="Calibri"/>
              </a:rPr>
              <a:t>Infrastructure that made 59-experiment unattended sweeps possible: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Resume-safe progress manifests (atomic JSON writes) — crash at any point, restart, nothing recomputed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Per-batch MFCC precompute checkpoints; subprocess isolation so one failed run can't kill the sweep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Early stopping on validation R² — cut typical DL run from ~36 min to ~11 min with no quality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Two views of the same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A7"/>
                </a:solidFill>
                <a:latin typeface="Calibri"/>
              </a:rPr>
              <a:t>Scalar features (for XGBoost)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Started with 13 hand-picked features (RMS, spectral centroid, MFCC means…)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Expanded to a 175-feature master store: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480"/>
                </a:solidFill>
                <a:latin typeface="Calibri"/>
              </a:rPr>
              <a:t>–  40 mel-band energies (mean + std)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480"/>
                </a:solidFill>
                <a:latin typeface="Calibri"/>
              </a:rPr>
              <a:t>–  MFCC statistics, wavelet sub-band energy/entropy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480"/>
                </a:solidFill>
                <a:latin typeface="Calibri"/>
              </a:rPr>
              <a:t>–  Teager energy, RMS histograms, spectral flux/contrast/rolloff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SHAP importance ranking → top-20 subset beat the full set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480"/>
                </a:solidFill>
                <a:latin typeface="Calibri"/>
              </a:rPr>
              <a:t>–  Classifier AUC: 0.883 → 0.887 with 20 features instead of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630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FA7A0"/>
                </a:solidFill>
                <a:latin typeface="Calibri"/>
              </a:rPr>
              <a:t>MFCC time-series (for deep learning)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74519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SARID paper insight: time-averaging destroys the temporal structure of rain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Each clip → full 40 × 157 MFCC matrix (40 coefficients × 157 time frames)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Computed on-the-fly on GPU — avoids 19 GB of precomputed .npy files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Key fix: removed per-clip peak normalization — absolute loudness carries the rain-intensity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Model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Four base models, one meta-model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0139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3977639"/>
                <a:gridCol w="228600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XGBoost classifier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20 SHAP-selected scalars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500 trees, depth 8, lr 0.03 (tuned)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Rain / no-rain gate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XGBoost regressor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20 SHAP-selected scalars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250 trees, depth 8, lr 0.02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Intensity (mm)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MFCC 40 × 157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Conv blocks over time–frequency map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Intensity (mm)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MFCC 40 × 157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Recurrent over 157 time frames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Intensity (mm)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MFCC 40 × 157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Self-attention encoder (best single DL model)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Intensity (mm)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Stacking ensemble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4 predictions + rain probability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XGB meta-model, 300 trees, depth 5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Final estimate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Training: SmoothL1 loss, cosine LR schedule, early stopping on validation R², per-campaign split.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All DL models trained on a single RTX-class GPU; each sweep run finished in 7–18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Classification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Rain / no-rain on 151,927 held-out clips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01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1481328"/>
                <a:gridCol w="1481328"/>
                <a:gridCol w="1481328"/>
                <a:gridCol w="1481328"/>
                <a:gridCol w="148132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T="38100" marB="38100" anchor="ctr">
                    <a:solidFill>
                      <a:srgbClr val="1B3A5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Logistic regression (baseline)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0.217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0.546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0.310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0.660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XGBoost (13 scalar features)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0.460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0.762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0.574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0.883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XGBoost (SHAP top-20 features)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0.538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0.668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0.596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XGBoost tuned (500 trees, depth 8)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0.699*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0.619*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0.893</a:t>
                      </a:r>
                    </a:p>
                  </a:txBody>
                  <a:tcPr marT="38100" marB="3810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0624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*Tuned model evaluated at the best-F1 threshold of 0.78 (instead of 0.50) — precision jumps from 0.54 to 0.70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Feature selection + hyperparameter tuning together: AUC 0.883 → 0.893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Precision is the hard part: dry clips with wind, traffic or handling noise mimic rain acoustically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ROC Curve — Rain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Computed from stored per-clip probabilities on the full test set</a:t>
            </a:r>
          </a:p>
        </p:txBody>
      </p:sp>
      <p:pic>
        <p:nvPicPr>
          <p:cNvPr id="5" name="Picture 4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1417320"/>
            <a:ext cx="6461760" cy="484632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52360" y="173736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AUC = 0.887 (production SHAP top-20 model, measured from saved predictions)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Tuned variant reaches 0.893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Steep initial rise: half of all rain events are caught with almost no false alarms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Operating threshold is tunable per use-case — 0.78 maximizes F1; higher favors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Evaluation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Confusion matrix @ 0.5 threshold · precision-recall tradeoff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463040"/>
            <a:ext cx="4775200" cy="429768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pic>
        <p:nvPicPr>
          <p:cNvPr id="6" name="Picture 5" descr="precision_recall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85109"/>
            <a:ext cx="5394960" cy="3853542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85216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At the default 0.5 threshold the model catches 16,868 of 22,136 rainy clips (76% recall) with 19,817 false alarms — moving to the best-F1 threshold (0.78) trades recall for far fewer false alarms.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What the Classifier Listens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XGBoost feature importance (original 13-feature model)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9166"/>
            <a:ext cx="6583680" cy="4702628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52360" y="173736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MFCC coefficients dominate — rain has a distinctive broadband spectral envelope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Zero-crossing rate and energy variance capture the temporal 'patter' of drops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This motivated the mel-band / MFCC-heavy 175-feature store — and SHAP later confirmed mel-band means as the top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Regression Results — the Full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Test R² for rainfall intensity (mm per clip), all on the same 151,927-clip test set</a:t>
            </a:r>
          </a:p>
        </p:txBody>
      </p:sp>
      <p:pic>
        <p:nvPicPr>
          <p:cNvPr id="5" name="Picture 4" descr="model_r2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8704"/>
            <a:ext cx="7863840" cy="4543552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6410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3.5× improvement from first baseline to final ensemble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Time-series MFCC beats time-averaged scalars for every DL architecture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SARID's 0.765 is on rain-only clips (12k) — not directly comparable to our all-weather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Hyperparameter Sweep —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18 unattended runs: 3 architectures × 3 learning rates × 2 batch sizes</a:t>
            </a:r>
          </a:p>
        </p:txBody>
      </p:sp>
      <p:pic>
        <p:nvPicPr>
          <p:cNvPr id="5" name="Picture 4" descr="dl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6080"/>
            <a:ext cx="7863840" cy="43688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6410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Transformer wins at every learning rate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bs=128 consistently beats bs=256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Best: Transformer, lr 3e-4 → R² 0.321 (single model)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All runs early-stopped in 6–11 epochs (7–18 min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A Hard-Won Lesson — DL Training Instability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Validation R² collapses after epoch 1 and never recovers (CNN, 40 epochs)</a:t>
            </a:r>
          </a:p>
        </p:txBody>
      </p:sp>
      <p:pic>
        <p:nvPicPr>
          <p:cNvPr id="5" name="Picture 4" descr="cnn_in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0832"/>
            <a:ext cx="7863840" cy="4019296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6410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Continued training overfits the skewed target: most clips are 0 mm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Fixes adopted: best-epoch checkpointing, early stopping, cosine LR decay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Without them the sweep would have burned ~11 hours to get worse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Stacking Ensemble — Input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5-fold CV R² of an XGBoost meta-model over base-model predictions</a:t>
            </a:r>
          </a:p>
        </p:txBody>
      </p:sp>
      <p:pic>
        <p:nvPicPr>
          <p:cNvPr id="5" name="Picture 4" descr="ensembl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6080"/>
            <a:ext cx="7863840" cy="43688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6410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The classifier's rain probability is the single most valuable input (+0.06–0.08 R²)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Every base model contributes — dropping any input hurts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Tuning the meta-model adds the final +0.015 → R² = 0.543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Final Ensemble — Predicted vs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Out-of-fold predictions: every clip scored by a model that never saw it</a:t>
            </a:r>
          </a:p>
        </p:txBody>
      </p:sp>
      <p:pic>
        <p:nvPicPr>
          <p:cNvPr id="5" name="Picture 4" descr="pr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88" y="1417320"/>
            <a:ext cx="5347663" cy="484632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0" y="1737360"/>
            <a:ext cx="4434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Log-density hexbin of 151,927 clips — the mass hugs the diagonal at low intensities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Locally reproduced R² = 0.531 with the pre-sweep base models; the refreshed sweep checkpoints lift it to 0.543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•  Systematic under-prediction of heavy rain (&gt; 4 mm/clip) — few training examples that heavy, and clipping/saturation in loud clips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Generalization — Per-Campaign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Classifier ROC-AUC per field campaign (campaigns with both classes)</a:t>
            </a:r>
          </a:p>
        </p:txBody>
      </p:sp>
      <p:pic>
        <p:nvPicPr>
          <p:cNvPr id="5" name="Picture 4" descr="campaig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6" y="1417320"/>
            <a:ext cx="7788728" cy="484632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6410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Strong on most campaigns (up to 0.96)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Feb–Mar 2026 is below chance — 93% rainy, likely different sensor placement / conditions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The spread points to environment covariates the audio alone can't resolve — chiefly wind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3A5B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480"/>
                </a:solidFill>
                <a:latin typeface="Calibri"/>
              </a:rPr>
              <a:t>What's holding back the next jump in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0504D"/>
                </a:solidFill>
                <a:latin typeface="Calibri"/>
              </a:rPr>
              <a:t>Known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440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Wind bias — the biggest identified gap: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480"/>
                </a:solidFill>
                <a:latin typeface="Calibri"/>
              </a:rPr>
              <a:t>–  wind noise contaminates the audio signal (lit.: even at 4 m/s)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480"/>
                </a:solidFill>
                <a:latin typeface="Calibri"/>
              </a:rPr>
              <a:t>–  gauges themselves under-catch 9–23% in wind — labels are biased too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Heavy rain (&gt; 4 mm/clip) is underestimated — sparse examples + microphone saturation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Per-campaign variance: one campaign scores below chance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DL training is unstable without early stopping / LR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FA7A0"/>
                </a:solidFill>
                <a:latin typeface="Calibri"/>
              </a:rPr>
              <a:t>Planned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74519"/>
            <a:ext cx="5440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Add wind speed (+ temperature / humidity) as model covariates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New tipping-bucket dataset (Jun 2026 → present) — more accurate labels than the mechanical gauges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Rain-only regression head (hurdle model) to compare fairly against SARID's 0.765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Larger DL capacity + augmentation now that the training recipe is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Acoustic Rain Gauge — ML Results · July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41148"/>
          </a:xfrm>
          <a:prstGeom prst="rect">
            <a:avLst/>
          </a:prstGeom>
          <a:solidFill>
            <a:srgbClr val="E8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24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8A13C"/>
                </a:solidFill>
                <a:latin typeface="Calibri"/>
              </a:rPr>
              <a:t>0.893</a:t>
            </a:r>
          </a:p>
          <a:p>
            <a:pPr algn="ctr"/>
            <a:r>
              <a:rPr sz="1300">
                <a:solidFill>
                  <a:srgbClr val="BFD3E4"/>
                </a:solidFill>
                <a:latin typeface="Calibri"/>
              </a:rPr>
              <a:t>rain detection ROC-AUC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24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8A13C"/>
                </a:solidFill>
                <a:latin typeface="Calibri"/>
              </a:rPr>
              <a:t>0.543</a:t>
            </a:r>
          </a:p>
          <a:p>
            <a:pPr algn="ctr"/>
            <a:r>
              <a:rPr sz="1300">
                <a:solidFill>
                  <a:srgbClr val="BFD3E4"/>
                </a:solidFill>
                <a:latin typeface="Calibri"/>
              </a:rPr>
              <a:t>rainfall intensity R² (stacked)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24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8A13C"/>
                </a:solidFill>
                <a:latin typeface="Calibri"/>
              </a:rPr>
              <a:t>3.5×</a:t>
            </a:r>
          </a:p>
          <a:p>
            <a:pPr algn="ctr"/>
            <a:r>
              <a:rPr sz="1300">
                <a:solidFill>
                  <a:srgbClr val="BFD3E4"/>
                </a:solidFill>
                <a:latin typeface="Calibri"/>
              </a:rPr>
              <a:t>R² gain over first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Rain detection from cheap microphones works: AUC 0.89 across 152k held-out field clips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Intensity estimation improved from R² 0.155 → 0.543 via time-series MFCC deep models + learned stacking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Fully automated, resume-safe training infrastructure — 59-experiment sweeps run unattended overnight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Clear path forward: wind covariates and better tipping-bucket ground truth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